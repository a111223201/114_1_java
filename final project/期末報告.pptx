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4DBB77-1F4E-2707-4B80-A512ED08C41B}" v="63" dt="2025-12-25T13:28:02.1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70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39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17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02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1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3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03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94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60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774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997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2363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28" r:id="rId6"/>
    <p:sldLayoutId id="2147483724" r:id="rId7"/>
    <p:sldLayoutId id="2147483725" r:id="rId8"/>
    <p:sldLayoutId id="2147483726" r:id="rId9"/>
    <p:sldLayoutId id="2147483727" r:id="rId10"/>
    <p:sldLayoutId id="214748372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24060E5-BA89-DD1D-4406-2DD9FDF7F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08388" y="5331673"/>
            <a:ext cx="6816312" cy="1337079"/>
          </a:xfrm>
        </p:spPr>
        <p:txBody>
          <a:bodyPr anchor="ctr">
            <a:normAutofit/>
          </a:bodyPr>
          <a:lstStyle/>
          <a:p>
            <a:r>
              <a:rPr lang="zh-TW" altLang="en-US" sz="4000"/>
              <a:t>線上拍賣系統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115298" y="5482186"/>
            <a:ext cx="3548892" cy="1064301"/>
          </a:xfrm>
        </p:spPr>
        <p:txBody>
          <a:bodyPr anchor="ctr">
            <a:normAutofit/>
          </a:bodyPr>
          <a:lstStyle/>
          <a:p>
            <a:r>
              <a:rPr lang="zh-TW" altLang="en-US" sz="1800"/>
              <a:t>盧韋中、韓季廷</a:t>
            </a:r>
          </a:p>
        </p:txBody>
      </p:sp>
      <p:pic>
        <p:nvPicPr>
          <p:cNvPr id="4" name="Picture 3" descr="抽象的遺傳概念">
            <a:extLst>
              <a:ext uri="{FF2B5EF4-FFF2-40B4-BE49-F238E27FC236}">
                <a16:creationId xmlns:a16="http://schemas.microsoft.com/office/drawing/2014/main" id="{A57A9645-6204-8129-1171-E024B58BCF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527" r="-2" b="25284"/>
          <a:stretch>
            <a:fillRect/>
          </a:stretch>
        </p:blipFill>
        <p:spPr>
          <a:xfrm>
            <a:off x="20" y="10"/>
            <a:ext cx="12191979" cy="5143490"/>
          </a:xfrm>
          <a:custGeom>
            <a:avLst/>
            <a:gdLst/>
            <a:ahLst/>
            <a:cxnLst/>
            <a:rect l="l" t="t" r="r" b="b"/>
            <a:pathLst>
              <a:path w="12191999" h="5143500">
                <a:moveTo>
                  <a:pt x="0" y="0"/>
                </a:moveTo>
                <a:lnTo>
                  <a:pt x="12191999" y="0"/>
                </a:lnTo>
                <a:lnTo>
                  <a:pt x="12191999" y="4503161"/>
                </a:lnTo>
                <a:lnTo>
                  <a:pt x="12178990" y="4632203"/>
                </a:lnTo>
                <a:cubicBezTo>
                  <a:pt x="12119280" y="4924000"/>
                  <a:pt x="11861099" y="5143500"/>
                  <a:pt x="11551650" y="5143500"/>
                </a:cubicBezTo>
                <a:lnTo>
                  <a:pt x="640350" y="5143500"/>
                </a:lnTo>
                <a:cubicBezTo>
                  <a:pt x="286694" y="5143500"/>
                  <a:pt x="0" y="4856806"/>
                  <a:pt x="0" y="450315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9212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5CE0B7-C8CD-369C-EF32-91E557BB3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b="0">
                <a:ea typeface="+mj-lt"/>
                <a:cs typeface="+mj-lt"/>
              </a:rPr>
              <a:t>1. auction.interfaces (系統行為規範)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E99F53-49CA-E16D-0187-7A97D17C3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zh-TW" dirty="0"/>
          </a:p>
          <a:p>
            <a:r>
              <a:rPr lang="zh-TW">
                <a:ea typeface="+mn-lt"/>
                <a:cs typeface="+mn-lt"/>
              </a:rPr>
              <a:t>定義系統的「契約」，確保不同類型的拍賣品都具備一致的操作介面。</a:t>
            </a:r>
            <a:endParaRPr lang="zh-TW"/>
          </a:p>
          <a:p>
            <a:r>
              <a:rPr lang="zh-TW" b="1">
                <a:latin typeface="Consolas"/>
              </a:rPr>
              <a:t>Biddable.java</a:t>
            </a:r>
            <a:r>
              <a:rPr lang="zh-TW">
                <a:ea typeface="+mn-lt"/>
                <a:cs typeface="+mn-lt"/>
              </a:rPr>
              <a:t>：定義「可出價」的行為，規定所有拍賣品必須實作 </a:t>
            </a:r>
            <a:r>
              <a:rPr lang="zh-TW">
                <a:latin typeface="Consolas"/>
              </a:rPr>
              <a:t>placeBid</a:t>
            </a:r>
            <a:r>
              <a:rPr lang="zh-TW">
                <a:ea typeface="+mn-lt"/>
                <a:cs typeface="+mn-lt"/>
              </a:rPr>
              <a:t> 方法。</a:t>
            </a:r>
            <a:endParaRPr lang="zh-TW"/>
          </a:p>
          <a:p>
            <a:r>
              <a:rPr lang="zh-TW" b="1">
                <a:latin typeface="Consolas"/>
              </a:rPr>
              <a:t>Expirable.java</a:t>
            </a:r>
            <a:r>
              <a:rPr lang="zh-TW">
                <a:ea typeface="+mn-lt"/>
                <a:cs typeface="+mn-lt"/>
              </a:rPr>
              <a:t>：定義「時間管理」規範，包含檢查是否過期、取得剩餘時間與延長時間。</a:t>
            </a:r>
            <a:endParaRPr lang="zh-TW"/>
          </a:p>
          <a:p>
            <a:r>
              <a:rPr lang="zh-TW" b="1">
                <a:latin typeface="Consolas"/>
              </a:rPr>
              <a:t>Watchable.java</a:t>
            </a:r>
            <a:r>
              <a:rPr lang="zh-TW">
                <a:ea typeface="+mn-lt"/>
                <a:cs typeface="+mn-lt"/>
              </a:rPr>
              <a:t>：定義「觀察者模式」介面，負責管理關注者清單並發送 </a:t>
            </a:r>
            <a:r>
              <a:rPr lang="zh-TW">
                <a:latin typeface="Consolas"/>
              </a:rPr>
              <a:t>AuctionEvent</a:t>
            </a:r>
            <a:r>
              <a:rPr lang="zh-TW">
                <a:ea typeface="+mn-lt"/>
                <a:cs typeface="+mn-lt"/>
              </a:rPr>
              <a:t> 通知。</a:t>
            </a:r>
            <a:endParaRPr lang="zh-TW"/>
          </a:p>
          <a:p>
            <a:r>
              <a:rPr lang="zh-TW" b="1">
                <a:latin typeface="Consolas"/>
              </a:rPr>
              <a:t>Rateable.java</a:t>
            </a:r>
            <a:r>
              <a:rPr lang="zh-TW">
                <a:ea typeface="+mn-lt"/>
                <a:cs typeface="+mn-lt"/>
              </a:rPr>
              <a:t>：定義「評價系統」規範，讓買賣雙方在交易後能互相評分。</a:t>
            </a:r>
            <a:endParaRPr lang="zh-TW"/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FFD2855-15EB-186F-4B7E-1F7583CCA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C07A3A-28A4-0D32-0FB7-5494A7810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59B2EA-BDB7-3820-24C2-B4E59C2B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805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FF3A50-AB7A-4C4B-71A6-5E20BF8CE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b="0">
                <a:ea typeface="+mj-lt"/>
                <a:cs typeface="+mj-lt"/>
              </a:rPr>
              <a:t>2. auction.users (使用者角色模組)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A0B5B9-4F4D-A1D7-3A23-9C7BA72E4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zh-TW" dirty="0"/>
          </a:p>
          <a:p>
            <a:r>
              <a:rPr lang="zh-TW">
                <a:ea typeface="+mn-lt"/>
                <a:cs typeface="+mn-lt"/>
              </a:rPr>
              <a:t>透過繼承（Inheritance）區分不同權限的系統參與者。</a:t>
            </a:r>
            <a:endParaRPr lang="zh-TW"/>
          </a:p>
          <a:p>
            <a:r>
              <a:rPr lang="zh-TW" b="1">
                <a:latin typeface="Consolas"/>
              </a:rPr>
              <a:t>User.java</a:t>
            </a:r>
            <a:r>
              <a:rPr lang="zh-TW">
                <a:ea typeface="+mn-lt"/>
                <a:cs typeface="+mn-lt"/>
              </a:rPr>
              <a:t>：基礎抽象類別，儲存使用者識別碼（ID）與名稱。</a:t>
            </a:r>
            <a:endParaRPr lang="zh-TW"/>
          </a:p>
          <a:p>
            <a:r>
              <a:rPr lang="zh-TW" b="1">
                <a:latin typeface="Consolas"/>
              </a:rPr>
              <a:t>Buyer.java</a:t>
            </a:r>
            <a:r>
              <a:rPr lang="zh-TW">
                <a:ea typeface="+mn-lt"/>
                <a:cs typeface="+mn-lt"/>
              </a:rPr>
              <a:t>：買家類別，擁有出價權限與關注商品的清單。</a:t>
            </a:r>
            <a:endParaRPr lang="zh-TW"/>
          </a:p>
          <a:p>
            <a:r>
              <a:rPr lang="zh-TW" b="1">
                <a:latin typeface="Consolas"/>
              </a:rPr>
              <a:t>Seller.java</a:t>
            </a:r>
            <a:r>
              <a:rPr lang="zh-TW">
                <a:ea typeface="+mn-lt"/>
                <a:cs typeface="+mn-lt"/>
              </a:rPr>
              <a:t>：賣家類別，負責上架商品並儲存平均信用評分。</a:t>
            </a:r>
            <a:endParaRPr lang="zh-TW"/>
          </a:p>
          <a:p>
            <a:r>
              <a:rPr lang="zh-TW" b="1">
                <a:latin typeface="Consolas"/>
              </a:rPr>
              <a:t>Administrator.java</a:t>
            </a:r>
            <a:r>
              <a:rPr lang="zh-TW">
                <a:ea typeface="+mn-lt"/>
                <a:cs typeface="+mn-lt"/>
              </a:rPr>
              <a:t>：管理員類別，具備介入爭議處理與裁決的權限。</a:t>
            </a:r>
            <a:endParaRPr lang="zh-TW"/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29B05D-86C1-C575-D592-5F8EB60A8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BE6D6E-4DB3-8D7B-C209-6A0155805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381D2A-E25E-265C-51E7-DFB5EA5CB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369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3EB307-F7CF-DC98-5F47-B63CA66EF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>
                <a:ea typeface="+mj-lt"/>
                <a:cs typeface="+mj-lt"/>
              </a:rPr>
              <a:t>3.</a:t>
            </a:r>
            <a:r>
              <a:rPr lang="zh-TW" b="0">
                <a:ea typeface="+mj-lt"/>
                <a:cs typeface="+mj-lt"/>
              </a:rPr>
              <a:t>auction.listings (拍賣品核心邏輯)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74E321-5D8F-7449-0559-7AE009A18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endParaRPr lang="zh-TW" dirty="0"/>
          </a:p>
          <a:p>
            <a:r>
              <a:rPr lang="zh-TW">
                <a:ea typeface="+mn-lt"/>
                <a:cs typeface="+mn-lt"/>
              </a:rPr>
              <a:t>展示多型（Polymorphism）的應用，不同的拍賣模式有不同的成交演算法。</a:t>
            </a:r>
            <a:endParaRPr lang="zh-TW"/>
          </a:p>
          <a:p>
            <a:r>
              <a:rPr lang="zh-TW" b="1">
                <a:latin typeface="Consolas"/>
              </a:rPr>
              <a:t>Listing.java</a:t>
            </a:r>
            <a:r>
              <a:rPr lang="zh-TW">
                <a:ea typeface="+mn-lt"/>
                <a:cs typeface="+mn-lt"/>
              </a:rPr>
              <a:t>：所有商品的基底類別，實作了基礎的時間計算與出價歷史紀錄儲存。</a:t>
            </a:r>
            <a:endParaRPr lang="zh-TW"/>
          </a:p>
          <a:p>
            <a:r>
              <a:rPr lang="zh-TW" b="1">
                <a:latin typeface="Consolas"/>
              </a:rPr>
              <a:t>StandardAuction.java</a:t>
            </a:r>
            <a:r>
              <a:rPr lang="zh-TW">
                <a:ea typeface="+mn-lt"/>
                <a:cs typeface="+mn-lt"/>
              </a:rPr>
              <a:t>：</a:t>
            </a:r>
            <a:r>
              <a:rPr lang="zh-TW" b="1">
                <a:ea typeface="+mn-lt"/>
                <a:cs typeface="+mn-lt"/>
              </a:rPr>
              <a:t>系統核心</a:t>
            </a:r>
            <a:r>
              <a:rPr lang="zh-TW">
                <a:ea typeface="+mn-lt"/>
                <a:cs typeface="+mn-lt"/>
              </a:rPr>
              <a:t>。實作了最小增額驗證、最後 5 分鐘出價自動延長以及觸發自動反擊邏輯。</a:t>
            </a:r>
            <a:endParaRPr lang="zh-TW"/>
          </a:p>
          <a:p>
            <a:r>
              <a:rPr lang="zh-TW" b="1">
                <a:latin typeface="Consolas"/>
              </a:rPr>
              <a:t>ReserveAuction.java</a:t>
            </a:r>
            <a:r>
              <a:rPr lang="zh-TW">
                <a:ea typeface="+mn-lt"/>
                <a:cs typeface="+mn-lt"/>
              </a:rPr>
              <a:t>：繼承標準拍賣，在結標時額外判斷最高標是否達到底價（Reserve Price），否則予以流標。</a:t>
            </a:r>
            <a:endParaRPr lang="zh-TW"/>
          </a:p>
          <a:p>
            <a:r>
              <a:rPr lang="zh-TW" b="1">
                <a:latin typeface="Consolas"/>
              </a:rPr>
              <a:t>DutchAuction.java</a:t>
            </a:r>
            <a:r>
              <a:rPr lang="zh-TW">
                <a:ea typeface="+mn-lt"/>
                <a:cs typeface="+mn-lt"/>
              </a:rPr>
              <a:t>：荷蘭式拍賣。價格隨時間遞減，首位以當前價格出價的買家直接成交。</a:t>
            </a:r>
            <a:endParaRPr lang="zh-TW"/>
          </a:p>
          <a:p>
            <a:r>
              <a:rPr lang="zh-TW" b="1">
                <a:latin typeface="Consolas"/>
              </a:rPr>
              <a:t>BuyNowListing.java</a:t>
            </a:r>
            <a:r>
              <a:rPr lang="zh-TW">
                <a:ea typeface="+mn-lt"/>
                <a:cs typeface="+mn-lt"/>
              </a:rPr>
              <a:t>：直購商品。固定價格銷售，不進行加價競爭，支付指定金額即刻完成交易。</a:t>
            </a:r>
            <a:endParaRPr lang="zh-TW"/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2EAE10-DF74-66B8-B1F0-CE73F7A2B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83E1FF-FF9D-D99C-D922-998960D83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17147D-BA13-5473-2367-5F7E822F8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2C6476-422A-91A9-E1A8-809E7CF9B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b="0">
                <a:ea typeface="+mj-lt"/>
                <a:cs typeface="+mj-lt"/>
              </a:rPr>
              <a:t>4. auction.bidding (出價與事件處理)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6DC5A6-64D8-03E8-6001-E1087DFD3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zh-TW" dirty="0"/>
          </a:p>
          <a:p>
            <a:r>
              <a:rPr lang="zh-TW">
                <a:ea typeface="+mn-lt"/>
                <a:cs typeface="+mn-lt"/>
              </a:rPr>
              <a:t>處理競標過程中的數據封裝與自動化機制。</a:t>
            </a:r>
            <a:endParaRPr lang="zh-TW"/>
          </a:p>
          <a:p>
            <a:r>
              <a:rPr lang="zh-TW" b="1">
                <a:latin typeface="Consolas"/>
              </a:rPr>
              <a:t>Bid.java</a:t>
            </a:r>
            <a:r>
              <a:rPr lang="zh-TW">
                <a:ea typeface="+mn-lt"/>
                <a:cs typeface="+mn-lt"/>
              </a:rPr>
              <a:t>：出價紀錄的抽象基底，紀錄出價者、金額與時間。</a:t>
            </a:r>
            <a:endParaRPr lang="zh-TW"/>
          </a:p>
          <a:p>
            <a:r>
              <a:rPr lang="zh-TW" b="1">
                <a:latin typeface="Consolas"/>
              </a:rPr>
              <a:t>ManualBid.java</a:t>
            </a:r>
            <a:r>
              <a:rPr lang="zh-TW">
                <a:ea typeface="+mn-lt"/>
                <a:cs typeface="+mn-lt"/>
              </a:rPr>
              <a:t>：代表買家手動輸入的具體出價紀錄。</a:t>
            </a:r>
            <a:endParaRPr lang="zh-TW"/>
          </a:p>
          <a:p>
            <a:r>
              <a:rPr lang="zh-TW" b="1">
                <a:latin typeface="Consolas"/>
              </a:rPr>
              <a:t>AutoBid.java</a:t>
            </a:r>
            <a:r>
              <a:rPr lang="zh-TW">
                <a:ea typeface="+mn-lt"/>
                <a:cs typeface="+mn-lt"/>
              </a:rPr>
              <a:t>：</a:t>
            </a:r>
            <a:r>
              <a:rPr lang="zh-TW" b="1">
                <a:ea typeface="+mn-lt"/>
                <a:cs typeface="+mn-lt"/>
              </a:rPr>
              <a:t>自動加價機器人</a:t>
            </a:r>
            <a:r>
              <a:rPr lang="zh-TW">
                <a:ea typeface="+mn-lt"/>
                <a:cs typeface="+mn-lt"/>
              </a:rPr>
              <a:t>。儲存買家最高預算上限，並在被超越時自動計算反擊金額。</a:t>
            </a:r>
            <a:endParaRPr lang="zh-TW"/>
          </a:p>
          <a:p>
            <a:r>
              <a:rPr lang="zh-TW" b="1">
                <a:latin typeface="Consolas"/>
              </a:rPr>
              <a:t>BidResult.java</a:t>
            </a:r>
            <a:r>
              <a:rPr lang="zh-TW">
                <a:ea typeface="+mn-lt"/>
                <a:cs typeface="+mn-lt"/>
              </a:rPr>
              <a:t>：封裝出價後的結果狀態（成功/失敗、原因、是否觸發時間延長）。</a:t>
            </a:r>
            <a:endParaRPr lang="zh-TW"/>
          </a:p>
          <a:p>
            <a:r>
              <a:rPr lang="zh-TW" b="1">
                <a:latin typeface="Consolas"/>
              </a:rPr>
              <a:t>AuctionEvent.java</a:t>
            </a:r>
            <a:r>
              <a:rPr lang="zh-TW">
                <a:ea typeface="+mn-lt"/>
                <a:cs typeface="+mn-lt"/>
              </a:rPr>
              <a:t>：</a:t>
            </a:r>
            <a:r>
              <a:rPr lang="zh-TW" b="1">
                <a:ea typeface="+mn-lt"/>
                <a:cs typeface="+mn-lt"/>
              </a:rPr>
              <a:t>事件物件</a:t>
            </a:r>
            <a:r>
              <a:rPr lang="zh-TW">
                <a:ea typeface="+mn-lt"/>
                <a:cs typeface="+mn-lt"/>
              </a:rPr>
              <a:t>。封裝通知訊息（如：被超越、拍賣延長），用於 </a:t>
            </a:r>
            <a:r>
              <a:rPr lang="zh-TW">
                <a:latin typeface="Consolas"/>
              </a:rPr>
              <a:t>Watchable</a:t>
            </a:r>
            <a:r>
              <a:rPr lang="zh-TW" dirty="0">
                <a:ea typeface="+mn-lt"/>
                <a:cs typeface="+mn-lt"/>
              </a:rPr>
              <a:t> </a:t>
            </a:r>
            <a:r>
              <a:rPr lang="zh-TW">
                <a:ea typeface="+mn-lt"/>
                <a:cs typeface="+mn-lt"/>
              </a:rPr>
              <a:t>的推播。</a:t>
            </a:r>
            <a:endParaRPr lang="zh-TW"/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7E4215-8E1E-F9A3-2CE2-3BF5D31EF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BEE476-C0DE-ED6D-D1AB-3F856EE01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C724ED-4893-BBDA-4DF1-DCA622A77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95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94E3C6-8C63-66AF-9247-E66EDE876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b="0">
                <a:ea typeface="+mj-lt"/>
                <a:cs typeface="+mj-lt"/>
              </a:rPr>
              <a:t>5. auction.core (售後交易流程)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E8646A-16A4-B167-3899-AA0569EDF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zh-TW" dirty="0"/>
          </a:p>
          <a:p>
            <a:pPr marL="0" indent="0">
              <a:buNone/>
            </a:pPr>
            <a:r>
              <a:rPr lang="zh-TW">
                <a:ea typeface="+mn-lt"/>
                <a:cs typeface="+mn-lt"/>
              </a:rPr>
              <a:t>紀錄拍賣結束後的「金流」與「物流」轉換。</a:t>
            </a:r>
            <a:endParaRPr lang="zh-TW"/>
          </a:p>
          <a:p>
            <a:r>
              <a:rPr lang="zh-TW" b="1">
                <a:latin typeface="Consolas"/>
              </a:rPr>
              <a:t>Transaction.java</a:t>
            </a:r>
            <a:r>
              <a:rPr lang="zh-TW">
                <a:ea typeface="+mn-lt"/>
                <a:cs typeface="+mn-lt"/>
              </a:rPr>
              <a:t>：交易總紀錄。將得標的出價、買家資訊、付款紀錄與運送資訊整合在一起。</a:t>
            </a:r>
            <a:endParaRPr lang="zh-TW"/>
          </a:p>
          <a:p>
            <a:r>
              <a:rPr lang="zh-TW" b="1">
                <a:latin typeface="Consolas"/>
              </a:rPr>
              <a:t>Payment.java</a:t>
            </a:r>
            <a:r>
              <a:rPr lang="zh-TW">
                <a:ea typeface="+mn-lt"/>
                <a:cs typeface="+mn-lt"/>
              </a:rPr>
              <a:t>：處理金流資訊，紀錄付款方式（信用卡/轉帳）與確認狀態。</a:t>
            </a:r>
            <a:endParaRPr lang="zh-TW"/>
          </a:p>
          <a:p>
            <a:r>
              <a:rPr lang="zh-TW" b="1">
                <a:latin typeface="Consolas"/>
              </a:rPr>
              <a:t>ShippingInfo.java</a:t>
            </a:r>
            <a:r>
              <a:rPr lang="zh-TW">
                <a:ea typeface="+mn-lt"/>
                <a:cs typeface="+mn-lt"/>
              </a:rPr>
              <a:t>：處理物流資訊，追蹤運送地址、物流編號與當前狀態。</a:t>
            </a:r>
            <a:endParaRPr lang="zh-TW"/>
          </a:p>
          <a:p>
            <a:r>
              <a:rPr lang="zh-TW" b="1">
                <a:latin typeface="Consolas"/>
              </a:rPr>
              <a:t>Dispute.java</a:t>
            </a:r>
            <a:r>
              <a:rPr lang="zh-TW">
                <a:ea typeface="+mn-lt"/>
                <a:cs typeface="+mn-lt"/>
              </a:rPr>
              <a:t>：爭議案件類別。紀錄買賣糾紛內容與管理員的最終裁決結果。</a:t>
            </a:r>
            <a:endParaRPr lang="zh-TW"/>
          </a:p>
          <a:p>
            <a:r>
              <a:rPr lang="zh-TW" b="1">
                <a:latin typeface="Consolas"/>
              </a:rPr>
              <a:t>AuctionHouse.java</a:t>
            </a:r>
            <a:r>
              <a:rPr lang="zh-TW">
                <a:ea typeface="+mn-lt"/>
                <a:cs typeface="+mn-lt"/>
              </a:rPr>
              <a:t>：系統行政中心。管理所有拍賣品的清單與搜尋功能。</a:t>
            </a:r>
            <a:endParaRPr lang="zh-TW"/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CA7376-989E-7F3D-F5E0-B8353ACBF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46C62C-6CA8-66FB-37F4-2E32B2CE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D0A345-0F30-2B0D-89A9-B15037485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69037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Custom 8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6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DylanVTI</vt:lpstr>
      <vt:lpstr>線上拍賣系統</vt:lpstr>
      <vt:lpstr>1. auction.interfaces (系統行為規範)</vt:lpstr>
      <vt:lpstr>2. auction.users (使用者角色模組)</vt:lpstr>
      <vt:lpstr>3.auction.listings (拍賣品核心邏輯)</vt:lpstr>
      <vt:lpstr>4. auction.bidding (出價與事件處理)</vt:lpstr>
      <vt:lpstr>5. auction.core (售後交易流程)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41</cp:revision>
  <dcterms:created xsi:type="dcterms:W3CDTF">2025-12-25T13:20:46Z</dcterms:created>
  <dcterms:modified xsi:type="dcterms:W3CDTF">2025-12-25T13:49:04Z</dcterms:modified>
</cp:coreProperties>
</file>